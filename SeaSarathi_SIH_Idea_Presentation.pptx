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[Problem Statement ID]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[Problem Statement Title]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[Theme, e.g. Disaster Management / MoES / Miscellaneous]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[Team ID]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[Team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41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1500" b="1" u="none">
                <a:solidFill>
                  <a:srgbClr val="1F497D"/>
                </a:solidFill>
                <a:latin typeface="Arial"/>
              </a:rPr>
              <a:t>SeaSarathi — offline-first marine safety &amp; fishing-intelligence app for India's coastal fishermen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628650" indent="-228600" algn="just">
              <a:buFont typeface="Arial" panose="020B0604020202020204" pitchFamily="34" charset="0"/>
              <a:buChar char="–"/>
            </a:pPr>
            <a:r>
              <a:rPr lang="en-US" sz="1200" dirty="0">
                <a:solidFill>
                  <a:srgbClr val="222222"/>
                </a:solidFill>
                <a:latin typeface="Arial"/>
              </a:rPr>
              <a:t>Multilingual chat + voice assistant, live marine map (PFZ / boundary / risk overlays), fishing-zone recommendations, and a unified safety-alerts feed (IMD cyclone, fisherman &amp; port warnings) — backed by an offline bundle so it keeps working once a boat loses signal.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628650" indent="-228600" algn="just">
              <a:buFont typeface="Arial" panose="020B0604020202020204" pitchFamily="34" charset="0"/>
              <a:buChar char="–"/>
            </a:pPr>
            <a:r>
              <a:rPr lang="en-US" sz="1200" dirty="0">
                <a:solidFill>
                  <a:srgbClr val="222222"/>
                </a:solidFill>
                <a:latin typeface="Arial"/>
              </a:rPr>
              <a:t>Fishermen today rely on scattered, English-only bulletins and guesswork; SeaSarathi fuses IMD, Copernicus SST/chlorophyll and Open-Meteo data into one evidence-based answer, in the fisherman's own language, on-device even offshore.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  <a:p>
            <a:pPr marL="628650" indent="-228600" algn="just">
              <a:buFont typeface="Arial" panose="020B0604020202020204" pitchFamily="34" charset="0"/>
              <a:buChar char="–"/>
            </a:pPr>
            <a:r>
              <a:rPr lang="en-US" sz="1200" dirty="0">
                <a:solidFill>
                  <a:srgbClr val="222222"/>
                </a:solidFill>
                <a:latin typeface="Arial"/>
              </a:rPr>
              <a:t>Not a chatbot: deterministic safety rules with an LLM-answer safety-net cross-check (caught a real missed warning in testing), resilient IMD scrapers with retry/cache since no official warning API exists, and genuinely offline-first design for multi-day deep-sea trips.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50000"/>
            <a:ext cx="9385300" cy="1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628650" indent="-228600" algn="just">
              <a:buFont typeface="Arial" panose="020B0604020202020204" pitchFamily="34" charset="0"/>
              <a:buChar char="–"/>
            </a:pPr>
            <a:r>
              <a:rPr lang="en-US" sz="1200" dirty="0">
                <a:solidFill>
                  <a:srgbClr val="222222"/>
                </a:solidFill>
                <a:latin typeface="Arial"/>
              </a:rPr>
              <a:t>React Native (Expo) mobile app + FastAPI (Python) backend  •  Copernicus Marine Service (SST / chlorophyll grids), Open-Meteo (wind/waves), IMD (cyclone, fisherman &amp; port warnings — scraped, no public API exists)  •  Claude LLM for synthesis/translation, Sarvam AI for speech-to-text / text-to-speech  •  AsyncStorage-based offline bundle cache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 marL="628650" indent="-228600" algn="just">
              <a:buFont typeface="Arial" panose="020B0604020202020204" pitchFamily="34" charset="0"/>
              <a:buChar char="–"/>
            </a:pPr>
            <a:r>
              <a:rPr lang="en-US" sz="1200" dirty="0">
                <a:solidFill>
                  <a:srgbClr val="222222"/>
                </a:solidFill>
                <a:latin typeface="Arial"/>
              </a:rPr>
              <a:t>GPS + voice/text query → backend data agent pulls live IMD/Copernicus/Open-Meteo data → deterministic rules + keyword safety-net cross-check the LLM's answer → evidence-based reply returned in the fisherman's language (see flow below)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Pentagon 17410"/>
          <p:cNvSpPr/>
          <p:nvPr/>
        </p:nvSpPr>
        <p:spPr>
          <a:xfrm>
            <a:off x="450000" y="1180000"/>
            <a:ext cx="2244000" cy="950000"/>
          </a:xfrm>
          <a:prstGeom prst="homePlate">
            <a:avLst/>
          </a:prstGeom>
          <a:solidFill>
            <a:srgbClr val="1F49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16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GPS + Query
(voice/text)</a:t>
            </a:r>
          </a:p>
        </p:txBody>
      </p:sp>
      <p:sp>
        <p:nvSpPr>
          <p:cNvPr id="17412" name="Pentagon 17411"/>
          <p:cNvSpPr/>
          <p:nvPr/>
        </p:nvSpPr>
        <p:spPr>
          <a:xfrm>
            <a:off x="2464000" y="1180000"/>
            <a:ext cx="2244000" cy="950000"/>
          </a:xfrm>
          <a:prstGeom prst="homePlat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16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Live data pull
IMD · Copernicus · Open-Meteo</a:t>
            </a:r>
          </a:p>
        </p:txBody>
      </p:sp>
      <p:sp>
        <p:nvSpPr>
          <p:cNvPr id="17413" name="Pentagon 17412"/>
          <p:cNvSpPr/>
          <p:nvPr/>
        </p:nvSpPr>
        <p:spPr>
          <a:xfrm>
            <a:off x="4478000" y="1180000"/>
            <a:ext cx="2244000" cy="950000"/>
          </a:xfrm>
          <a:prstGeom prst="homePlate">
            <a:avLst/>
          </a:prstGeom>
          <a:solidFill>
            <a:srgbClr val="4BACC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16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Deterministic rules
+ safety-net check</a:t>
            </a:r>
          </a:p>
        </p:txBody>
      </p:sp>
      <p:sp>
        <p:nvSpPr>
          <p:cNvPr id="17414" name="Pentagon 17413"/>
          <p:cNvSpPr/>
          <p:nvPr/>
        </p:nvSpPr>
        <p:spPr>
          <a:xfrm>
            <a:off x="6492000" y="1180000"/>
            <a:ext cx="2244000" cy="950000"/>
          </a:xfrm>
          <a:prstGeom prst="homePlate">
            <a:avLst/>
          </a:prstGeom>
          <a:solidFill>
            <a:srgbClr val="4F8A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160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Evidence-based reply
(chat + voice, local language)</a:t>
            </a:r>
          </a:p>
        </p:txBody>
      </p:sp>
      <p:sp>
        <p:nvSpPr>
          <p:cNvPr id="17415" name="Pentagon 17414"/>
          <p:cNvSpPr/>
          <p:nvPr/>
        </p:nvSpPr>
        <p:spPr>
          <a:xfrm>
            <a:off x="8506000" y="1180000"/>
            <a:ext cx="2244000" cy="950000"/>
          </a:xfrm>
          <a:prstGeom prst="homePlate">
            <a:avLst/>
          </a:prstGeom>
          <a:solidFill>
            <a:srgbClr val="4F81B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Cached for
offline use at sea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300000"/>
            <a:ext cx="9385300" cy="37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lang="en-US" sz="1150" dirty="0">
                <a:solidFill>
                  <a:srgbClr val="222222"/>
                </a:solidFill>
                <a:latin typeface="Arial"/>
              </a:rPr>
              <a:t>Core pipeline (Copernicus SST/chlorophyll grid, IMD scrapers, chat/voice, offline bundles) is already built and running end-to-end; verified live against real IMD alerts near the Gujarat and Kerala coasts.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62865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lang="en-US" sz="1150" dirty="0">
                <a:solidFill>
                  <a:srgbClr val="222222"/>
                </a:solidFill>
                <a:latin typeface="Arial"/>
              </a:rPr>
              <a:t>IMD publishes no official warning API (scraping is the only option); an LLM can miss a safety-critical line in a long bulletin; patchy connectivity and low-end Android devices offshore; keeping 10-language translations complete as features grow.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lang="en-US" sz="1150" dirty="0">
                <a:solidFill>
                  <a:srgbClr val="222222"/>
                </a:solidFill>
                <a:latin typeface="Arial"/>
              </a:rPr>
              <a:t>A deterministic keyword safety-net cross-checks every LLM output (already caught a real missed warning in testing); retry + exponential backoff and per-source caching make the scrapers resilient; an offline bundle is downloaded before sailing; translations are split per screen for incremental rollout.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Oval 17410"/>
          <p:cNvSpPr/>
          <p:nvPr/>
        </p:nvSpPr>
        <p:spPr>
          <a:xfrm>
            <a:off x="600000" y="1180000"/>
            <a:ext cx="580000" cy="580000"/>
          </a:xfrm>
          <a:prstGeom prst="ellipse">
            <a:avLst/>
          </a:prstGeom>
          <a:solidFill>
            <a:srgbClr val="4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00000" y="1785000"/>
            <a:ext cx="14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Calibri"/>
              </a:rPr>
              <a:t>Feasible today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5960000" y="1180000"/>
            <a:ext cx="580000" cy="5800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560000" y="1785000"/>
            <a:ext cx="14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Calibri"/>
              </a:rPr>
              <a:t>Key risks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11320000" y="1180000"/>
            <a:ext cx="580000" cy="5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0920000" y="1785000"/>
            <a:ext cx="14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Calibri"/>
              </a:rPr>
              <a:t>Mitigations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50000"/>
            <a:ext cx="9385300" cy="1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62865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lang="en-US" sz="1150" dirty="0">
                <a:solidFill>
                  <a:srgbClr val="222222"/>
                </a:solidFill>
                <a:latin typeface="Arial"/>
              </a:rPr>
              <a:t>Real-time, evidence-based safety guidance for India's coastal fishing community, in their own language, even without connectivity at sea — directly targets preventable loss of life from cyclones, high waves and international-boundary incursions.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marL="62865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lang="en-US" sz="1150" dirty="0">
                <a:solidFill>
                  <a:srgbClr val="222222"/>
                </a:solidFill>
                <a:latin typeface="Arial"/>
              </a:rPr>
              <a:t>See the three pillars below; the same alert pipeline also gives disaster-management authorities a live situational-awareness layer (IMD alerts + geofencing) they don't have today.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450000" y="3550000"/>
            <a:ext cx="3566666" cy="2500000"/>
          </a:xfrm>
          <a:prstGeom prst="roundRect">
            <a:avLst>
              <a:gd name="adj" fmla="val 8000"/>
            </a:avLst>
          </a:prstGeom>
          <a:solidFill>
            <a:srgbClr val="4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SOCIAL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Fewer marine casualties; fewer international-boundary disputes and detentions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316666" y="3550000"/>
            <a:ext cx="3566666" cy="25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ECONOMIC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Higher catch efficiency via PFZ guidance; less fuel and time wasted on blind trips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83332" y="3550000"/>
            <a:ext cx="3566666" cy="2500000"/>
          </a:xfrm>
          <a:prstGeom prst="roundRect">
            <a:avLst>
              <a:gd name="adj" fmla="val 8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ENVIRONMENTAL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  <a:latin typeface="Calibri"/>
              </a:rPr>
              <a:t>Targeted-zone fishing reduces overfishing pressure and protected-area incursions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50000"/>
            <a:ext cx="9385300" cy="4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2865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lang="en-US" sz="1300" dirty="0">
                <a:solidFill>
                  <a:srgbClr val="222222"/>
                </a:solidFill>
                <a:latin typeface="Arial"/>
              </a:rPr>
              <a:t>India Meteorological Department (IMD) / RSMC New Delhi — fisherman warnings, sea-area bulletins, cyclone/fishermen warning archive, and the 11-signal port-warning taxonomy (mausam.imd.gov.in)</a:t>
            </a:r>
          </a:p>
          <a:p>
            <a:pPr marL="62865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lang="en-US" sz="1300" dirty="0">
                <a:solidFill>
                  <a:srgbClr val="222222"/>
                </a:solidFill>
                <a:latin typeface="Arial"/>
              </a:rPr>
              <a:t>Copernicus Marine Service — sea-surface temperature and chlorophyll-a grids over the India EEZ (marine.copernicus.eu)</a:t>
            </a:r>
          </a:p>
          <a:p>
            <a:pPr marL="62865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lang="en-US" sz="1300" dirty="0">
                <a:solidFill>
                  <a:srgbClr val="222222"/>
                </a:solidFill>
                <a:latin typeface="Arial"/>
              </a:rPr>
              <a:t>Open-Meteo — marine wind and wave forecast API (open-meteo.com)</a:t>
            </a:r>
          </a:p>
          <a:p>
            <a:pPr marL="62865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lang="en-US" sz="1300" dirty="0">
                <a:solidFill>
                  <a:srgbClr val="222222"/>
                </a:solidFill>
                <a:latin typeface="Arial"/>
              </a:rPr>
              <a:t>CMFRI (Central Marine Fisheries Research Institute) — historical fish-catch and species-distribution reference data</a:t>
            </a:r>
          </a:p>
          <a:p>
            <a:pPr marL="62865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lang="en-US" sz="1300" dirty="0">
                <a:solidFill>
                  <a:srgbClr val="222222"/>
                </a:solidFill>
                <a:latin typeface="Arial"/>
              </a:rPr>
              <a:t>Potential Fishing Zone (PFZ) advisory methodology — standard INCOIS/CMFRI approach, adapted for zone-level recommendation logic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Saarthak Patil</cp:lastModifiedBy>
  <cp:revision>148</cp:revision>
  <dcterms:created xsi:type="dcterms:W3CDTF">2013-12-12T18:46:50Z</dcterms:created>
  <dcterms:modified xsi:type="dcterms:W3CDTF">2026-09-14T18:06:08Z</dcterms:modified>
  <cp:category/>
</cp:coreProperties>
</file>